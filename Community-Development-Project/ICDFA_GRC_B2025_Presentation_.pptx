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Risk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Risks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B73-4B5A-A6C5-1E3DBEE72595}"/>
              </c:ext>
            </c:extLst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73-4B5A-A6C5-1E3DBEE72595}"/>
              </c:ext>
            </c:extLst>
          </c:dPt>
          <c:dPt>
            <c:idx val="2"/>
            <c:invertIfNegative val="0"/>
            <c:bubble3D val="0"/>
            <c:spPr>
              <a:solidFill>
                <a:srgbClr val="CA8A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73-4B5A-A6C5-1E3DBEE72595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73-4B5A-A6C5-1E3DBEE725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73-4B5A-A6C5-1E3DBEE725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7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669280" y="274320"/>
            <a:ext cx="32004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BAE6FD"/>
                </a:solidFill>
              </a:rPr>
              <a:t>GOVERNANCE, RISK &amp; COMPLIANCE ENGINEERING PROGRAMME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ICDFA Cyber Governance and Community Security Improvement Project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286000" y="24688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1 Completion Presentation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371600" y="3154680"/>
            <a:ext cx="64008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AE6FD"/>
                </a:solidFill>
              </a:rPr>
              <a:t>Presented by: GRC Batch B2025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International Cybersecurity and Digital Forensics Academy  |  June 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411480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1097280" y="413308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AE6FD"/>
                </a:solidFill>
              </a:rPr>
              <a:t>"Strengthening Cybersecurity Governance, Risk Awareness and Compliance Culture within ICDFA"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3977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About This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72768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ICDFA Cyber Governance and Community Security Improvement Project is the Phase 1 Completion Requirement for the Governance, Risk and Compliance Engineering Programme.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GRC Batch B2025 was tasked with applying classroom knowledge to a real institutional environment, identifying risks, developing policies, creating awareness materials, and recommending practical improvements.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project was delivered through five specialist teams working collaboratively toward one consolidated output.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0560" y="1051560"/>
            <a:ext cx="43434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1772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Project Teams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17720" y="157276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0" y="1572768"/>
            <a:ext cx="3520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 Assessment Team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77393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Risk identification, analysis &amp; register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7720" y="226771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0" y="2267712"/>
            <a:ext cx="3520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Policy &amp; Documentation Team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246888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Policies, procedures &amp; guidelines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296265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0" y="2962656"/>
            <a:ext cx="3520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Awareness &amp; Communication Team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20640" y="316382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Posters, flyers, messages &amp; campaigns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3657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20640" y="3657600"/>
            <a:ext cx="3520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Protection &amp; Privacy Team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20640" y="38587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 data risk &amp; compliance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17720" y="435254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20640" y="4352544"/>
            <a:ext cx="3520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Presentation &amp; Reporting Team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20640" y="455371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Final report &amp; presentation slides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4320" y="488274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2"/>
          <p:cNvSpPr/>
          <p:nvPr/>
        </p:nvSpPr>
        <p:spPr>
          <a:xfrm>
            <a:off x="149838" y="1005840"/>
            <a:ext cx="8844323" cy="37947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Cyber Governance &amp; Security Challenges Identified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0233" y="3411711"/>
            <a:ext cx="4660367" cy="448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Weak Password Practices &amp; Credential Misuse: </a:t>
            </a:r>
            <a:r>
              <a:rPr lang="en-US" sz="1300" dirty="0">
                <a:solidFill>
                  <a:srgbClr val="334155"/>
                </a:solidFill>
              </a:rPr>
              <a:t>Passwords shared among peers, never expiring credentials, and weak complexity standards across Microsoft 365 accounts.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Inadequate Student Data Protection: </a:t>
            </a:r>
            <a:r>
              <a:rPr lang="en-US" sz="1300" dirty="0">
                <a:solidFill>
                  <a:srgbClr val="334155"/>
                </a:solidFill>
              </a:rPr>
              <a:t>Screenshots of results, certificates and payment confirmations shared via personal WhatsApp and social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Weak Incident Reporting Culture: </a:t>
            </a:r>
            <a:r>
              <a:rPr lang="en-US" sz="1300" dirty="0">
                <a:solidFill>
                  <a:srgbClr val="334155"/>
                </a:solidFill>
              </a:rPr>
              <a:t>No formal reporting procedure published, no designated contacts and a culture of non-reporting due to fear of blame.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Phishing &amp; Social Engineering Threats: </a:t>
            </a:r>
            <a:r>
              <a:rPr lang="en-US" sz="1300" dirty="0">
                <a:solidFill>
                  <a:srgbClr val="334155"/>
                </a:solidFill>
              </a:rPr>
              <a:t>No formal phishing awareness </a:t>
            </a:r>
            <a:r>
              <a:rPr lang="en-US" sz="1300" dirty="0" err="1">
                <a:solidFill>
                  <a:srgbClr val="334155"/>
                </a:solidFill>
              </a:rPr>
              <a:t>programme</a:t>
            </a:r>
            <a:r>
              <a:rPr lang="en-US" sz="1300" dirty="0">
                <a:solidFill>
                  <a:srgbClr val="334155"/>
                </a:solidFill>
              </a:rPr>
              <a:t>, no simulated exercises, and no structured reporting procedure in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Use of Unofficial Communication Channels: </a:t>
            </a:r>
            <a:r>
              <a:rPr lang="en-US" sz="1300" dirty="0">
                <a:solidFill>
                  <a:srgbClr val="334155"/>
                </a:solidFill>
              </a:rPr>
              <a:t>Academic and administrative business conducted through personal messaging apps instead of official ICDFA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Gaps in Document Handling &amp; Information Classification: </a:t>
            </a:r>
            <a:r>
              <a:rPr lang="en-US" sz="1300" dirty="0">
                <a:solidFill>
                  <a:srgbClr val="334155"/>
                </a:solidFill>
              </a:rPr>
              <a:t>No sensitivity labels, no DLP policies, and no Microsoft Purview deployment across any M365 workload.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  <p:pic>
        <p:nvPicPr>
          <p:cNvPr id="31" name="Picture 30" descr="6 Marketing Challenges And The Shortcuts To Solve Them">
            <a:extLst>
              <a:ext uri="{FF2B5EF4-FFF2-40B4-BE49-F238E27FC236}">
                <a16:creationId xmlns:a16="http://schemas.microsoft.com/office/drawing/2014/main" id="{A8270098-7E2D-F176-6D1E-71CA1D11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963" y="1567543"/>
            <a:ext cx="3980189" cy="26446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Assessment Scope &amp; Methodology — What We Assessed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594360" y="10241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Governance Assessment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3167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Reviewed institutional digital and administrative processes, account usage, and access control practices.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993392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320040" y="1993392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Policy Review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23042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Assessed the absence or presence of documented policies governing accounts, data, communication, and incidents.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298094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4" name="Shape 11"/>
          <p:cNvSpPr/>
          <p:nvPr/>
        </p:nvSpPr>
        <p:spPr>
          <a:xfrm>
            <a:off x="320040" y="2980944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594360" y="299923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Risk Assessment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" y="3291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Identified and rated 30 cybersecurity and governance risks across 5 operational scope areas.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96849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8" name="Shape 15"/>
          <p:cNvSpPr/>
          <p:nvPr/>
        </p:nvSpPr>
        <p:spPr>
          <a:xfrm>
            <a:off x="320040" y="3968496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594360" y="398678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Awareness Evaluation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" y="42793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Evaluated awareness gaps among students, interns, instructors and administrative personnel.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57800" y="100584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19"/>
          <p:cNvSpPr/>
          <p:nvPr/>
        </p:nvSpPr>
        <p:spPr>
          <a:xfrm>
            <a:off x="539496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AE6FD"/>
                </a:solidFill>
              </a:rPr>
              <a:t>DATA COLLECTION METHODS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94960" y="15087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1"/>
          <p:cNvSpPr/>
          <p:nvPr/>
        </p:nvSpPr>
        <p:spPr>
          <a:xfrm>
            <a:off x="5669280" y="1481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Review of existing ICDFA communication procedures and practices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94960" y="20025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3"/>
          <p:cNvSpPr/>
          <p:nvPr/>
        </p:nvSpPr>
        <p:spPr>
          <a:xfrm>
            <a:off x="5669280" y="19751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Observation of digital and administrative operations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94960" y="249631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8" name="Text 25"/>
          <p:cNvSpPr/>
          <p:nvPr/>
        </p:nvSpPr>
        <p:spPr>
          <a:xfrm>
            <a:off x="566928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Simple questionnaires administered to students and interns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394960" y="299008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7"/>
          <p:cNvSpPr/>
          <p:nvPr/>
        </p:nvSpPr>
        <p:spPr>
          <a:xfrm>
            <a:off x="5669280" y="29626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Review of common student support issues and complaints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94960" y="348386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29"/>
          <p:cNvSpPr/>
          <p:nvPr/>
        </p:nvSpPr>
        <p:spPr>
          <a:xfrm>
            <a:off x="5669280" y="3456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Analysis of cybersecurity risks relevant to educational institutions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394960" y="39776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31"/>
          <p:cNvSpPr/>
          <p:nvPr/>
        </p:nvSpPr>
        <p:spPr>
          <a:xfrm>
            <a:off x="5669280" y="3950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Research on governance frameworks and best practices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Observations from the Assessment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Strengths Identified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8191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749808" y="15361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Multi-Factor Authentication (MFA) is active on all ICDFA Microsoft 365 accounts, a strong baseline technical control.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749808" y="211455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Individual credentials are issued to each account holder, meaning access is not shared at account creation.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2432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749808" y="25786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Email spam filters are active across the Microsoft 365 tenant.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1455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749808" y="30998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Basic antivirus protection is present on some devices.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66674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749808" y="3621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Manual backup processes exist for some institutional records.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18795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749808" y="41422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Informal verbal briefings are provided to new users at onboarding.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09160" y="10058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Areas Requiring Improvement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46320" y="15819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5120640" y="15361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published Acceptable Use Policy (AUP) governing Microsoft 365 account use.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46320" y="20391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6" name="Text 23"/>
          <p:cNvSpPr/>
          <p:nvPr/>
        </p:nvSpPr>
        <p:spPr>
          <a:xfrm>
            <a:off x="5120640" y="19933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Password expiry configured to NEVER EXPIRE across the entire tenant.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846320" y="24963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5120640" y="24505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Microsoft Purview sensitivity labels or DLP policies configured on any M365 workload.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846320" y="29535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0" name="Text 27"/>
          <p:cNvSpPr/>
          <p:nvPr/>
        </p:nvSpPr>
        <p:spPr>
          <a:xfrm>
            <a:off x="5120640" y="29077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formal phishing awareness or incident reporting procedures published.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846320" y="34107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2" name="Text 29"/>
          <p:cNvSpPr/>
          <p:nvPr/>
        </p:nvSpPr>
        <p:spPr>
          <a:xfrm>
            <a:off x="5120640" y="33649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structured cybersecurity awareness programme in place.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846320" y="38679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4" name="Text 31"/>
          <p:cNvSpPr/>
          <p:nvPr/>
        </p:nvSpPr>
        <p:spPr>
          <a:xfrm>
            <a:off x="5120640" y="38221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role-based access controls formally documented or enforced.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846320" y="43251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6" name="Text 33"/>
          <p:cNvSpPr/>
          <p:nvPr/>
        </p:nvSpPr>
        <p:spPr>
          <a:xfrm>
            <a:off x="5120640" y="42793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 data retention, disposal, or classification policy in effect.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Cybersecurity and Governance Risks Identified — Top Risks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37490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087368" y="1005840"/>
            <a:ext cx="16916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4133088" y="1005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Area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97296" y="1005840"/>
            <a:ext cx="960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5843016" y="1005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Likelihood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75704" y="1005840"/>
            <a:ext cx="868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6821424" y="10058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62672" y="1005840"/>
            <a:ext cx="9144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7708392" y="10058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37160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Password never-expire policy, credentials configured to never rotate across entire M365 tenant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33088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M365 / Security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88736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21424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699248" y="1426464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7699248" y="1426464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1833372"/>
            <a:ext cx="850392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365760" y="18333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No sensitivity labels or DLP policies,  no Microsoft Purview deployment across any M365 workload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33088" y="18333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Info Protection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88736" y="18333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21424" y="18333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888236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5"/>
          <p:cNvSpPr/>
          <p:nvPr/>
        </p:nvSpPr>
        <p:spPr>
          <a:xfrm>
            <a:off x="7699248" y="1888236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2295144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7"/>
          <p:cNvSpPr/>
          <p:nvPr/>
        </p:nvSpPr>
        <p:spPr>
          <a:xfrm>
            <a:off x="365760" y="22951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Screenshots of student results, certificates &amp; payment confirmations shared on social media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133088" y="2295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Student Data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888736" y="2295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21424" y="22951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99248" y="2350008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2"/>
          <p:cNvSpPr/>
          <p:nvPr/>
        </p:nvSpPr>
        <p:spPr>
          <a:xfrm>
            <a:off x="7699248" y="2350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0040" y="2756916"/>
            <a:ext cx="850392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4"/>
          <p:cNvSpPr/>
          <p:nvPr/>
        </p:nvSpPr>
        <p:spPr>
          <a:xfrm>
            <a:off x="365760" y="27569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No formal incident reporting procedure,  no designated channels, contacts or response steps published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133088" y="27569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88736" y="27569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21424" y="27569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811780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39"/>
          <p:cNvSpPr/>
          <p:nvPr/>
        </p:nvSpPr>
        <p:spPr>
          <a:xfrm>
            <a:off x="7699248" y="281178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3218688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1"/>
          <p:cNvSpPr/>
          <p:nvPr/>
        </p:nvSpPr>
        <p:spPr>
          <a:xfrm>
            <a:off x="365760" y="3218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No structured cybersecurity awareness </a:t>
            </a:r>
            <a:r>
              <a:rPr lang="en-US" sz="1000" dirty="0" err="1">
                <a:solidFill>
                  <a:srgbClr val="334155"/>
                </a:solidFill>
              </a:rPr>
              <a:t>programme</a:t>
            </a:r>
            <a:r>
              <a:rPr lang="en-US" sz="1000" dirty="0">
                <a:solidFill>
                  <a:srgbClr val="334155"/>
                </a:solidFill>
              </a:rPr>
              <a:t>,  informal verbal briefings only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133088" y="32186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Awareness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888736" y="3218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821424" y="3218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699248" y="3273552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6"/>
          <p:cNvSpPr/>
          <p:nvPr/>
        </p:nvSpPr>
        <p:spPr>
          <a:xfrm>
            <a:off x="7699248" y="327355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20040" y="3680460"/>
            <a:ext cx="850392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8"/>
          <p:cNvSpPr/>
          <p:nvPr/>
        </p:nvSpPr>
        <p:spPr>
          <a:xfrm>
            <a:off x="365760" y="36804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Phishing emails targeting students, interns &amp; staff via official M365 channels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133088" y="36804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M365 / Outlook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888736" y="36804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Medium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821424" y="36804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699248" y="3735324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3"/>
          <p:cNvSpPr/>
          <p:nvPr/>
        </p:nvSpPr>
        <p:spPr>
          <a:xfrm>
            <a:off x="7699248" y="3735324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20040" y="4142232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5"/>
          <p:cNvSpPr/>
          <p:nvPr/>
        </p:nvSpPr>
        <p:spPr>
          <a:xfrm>
            <a:off x="365760" y="4142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Use of unofficial communication channels (WhatsApp) for institutional business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133088" y="4142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Communications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888736" y="4142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821424" y="41422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Medium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699248" y="4197096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0"/>
          <p:cNvSpPr/>
          <p:nvPr/>
        </p:nvSpPr>
        <p:spPr>
          <a:xfrm>
            <a:off x="7699248" y="4197096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0040" y="4604004"/>
            <a:ext cx="850392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5" name="Text 62"/>
          <p:cNvSpPr/>
          <p:nvPr/>
        </p:nvSpPr>
        <p:spPr>
          <a:xfrm>
            <a:off x="365760" y="46040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Impersonation of ICDFA staff, instructors or officials via email or Teams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4133088" y="46040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M365 / Identity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5888736" y="46040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Medium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821424" y="46040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High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7699248" y="4658868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Text 67"/>
          <p:cNvSpPr/>
          <p:nvPr/>
        </p:nvSpPr>
        <p:spPr>
          <a:xfrm>
            <a:off x="7699248" y="46588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320040" y="49834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Total: 30 risks identified across 5 scope areas  |  16 Critical  |  11 High  |  2 Medium  |  1 Low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Impact and Likelihood Assessment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0584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663440" y="960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663440" y="96012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663440" y="960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16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663440" y="13350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69280" y="9784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Immediate action — address within 1–7 days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669280" y="12161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AUP, no sensitivity labels, no incident reporting procedure, password never-expire policy, no structured awareness programme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183794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9"/>
          <p:cNvSpPr/>
          <p:nvPr/>
        </p:nvSpPr>
        <p:spPr>
          <a:xfrm>
            <a:off x="4663440" y="1837944"/>
            <a:ext cx="914400" cy="777240"/>
          </a:xfrm>
          <a:prstGeom prst="roundRect">
            <a:avLst>
              <a:gd name="adj" fmla="val 941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0"/>
          <p:cNvSpPr/>
          <p:nvPr/>
        </p:nvSpPr>
        <p:spPr>
          <a:xfrm>
            <a:off x="4663440" y="18379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11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663440" y="2212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69280" y="185623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Priority action — address within 14 days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669280" y="2093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Impersonation risks, unofficial communication channels, phishing threats, attachment handling, SharePoint access controls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271576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5"/>
          <p:cNvSpPr/>
          <p:nvPr/>
        </p:nvSpPr>
        <p:spPr>
          <a:xfrm>
            <a:off x="4663440" y="2715768"/>
            <a:ext cx="914400" cy="777240"/>
          </a:xfrm>
          <a:prstGeom prst="roundRect">
            <a:avLst>
              <a:gd name="adj" fmla="val 9412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6"/>
          <p:cNvSpPr/>
          <p:nvPr/>
        </p:nvSpPr>
        <p:spPr>
          <a:xfrm>
            <a:off x="4663440" y="2715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466344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669280" y="27340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Action within 30 days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6692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Insufficient SharePoint access controls, accidental deletion of academic records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359359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663440" y="3593592"/>
            <a:ext cx="91440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63440" y="35935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27" name="Text 23"/>
          <p:cNvSpPr/>
          <p:nvPr/>
        </p:nvSpPr>
        <p:spPr>
          <a:xfrm>
            <a:off x="4663440" y="39684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LOW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5669280" y="36118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Monitor — address within 90 days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669280" y="38496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Improper disposal of admission/enrolment documents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20040" y="429768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02920" y="43251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Potential Consequences: Account compromise, data breaches, reputational damage, regulatory exposure under the Nigeria Data Protection Act 2023, erosion of student trust, and disruption to Academy operations.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Governance &amp; Security Documentation Produced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39776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685800" cy="886968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685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POL-01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" y="1024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Acceptable Use Guideline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12801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Official Emails &amp; Microsoft 365 Accounts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" y="14721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Defines permitted and prohibited uses of ICDFA accounts for all students, staff, instructors and interns.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2002536"/>
            <a:ext cx="39776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320040" y="2002536"/>
            <a:ext cx="685800" cy="886968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3" name="Text 10"/>
          <p:cNvSpPr/>
          <p:nvPr/>
        </p:nvSpPr>
        <p:spPr>
          <a:xfrm>
            <a:off x="320040" y="2002536"/>
            <a:ext cx="685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POL-02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8992" y="2020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Student Data Protection Guideline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223828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Data Confidentiality &amp; Privacy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78992" y="2456201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Sets out how student records, academic data, and payment information must be handled, stored, and protected.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2999232"/>
            <a:ext cx="39776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8" name="Shape 15"/>
          <p:cNvSpPr/>
          <p:nvPr/>
        </p:nvSpPr>
        <p:spPr>
          <a:xfrm>
            <a:off x="320040" y="2999232"/>
            <a:ext cx="685800" cy="886968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Text 16"/>
          <p:cNvSpPr/>
          <p:nvPr/>
        </p:nvSpPr>
        <p:spPr>
          <a:xfrm>
            <a:off x="320040" y="2999232"/>
            <a:ext cx="685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POL-03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8992" y="3017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Password &amp; Account Security Guideline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78992" y="327355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Credential Management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78992" y="34655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Establishes minimum standards for password strength, rotation, MFA, and credential management.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0040" y="3995928"/>
            <a:ext cx="39776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4" name="Shape 21"/>
          <p:cNvSpPr/>
          <p:nvPr/>
        </p:nvSpPr>
        <p:spPr>
          <a:xfrm>
            <a:off x="320040" y="3995928"/>
            <a:ext cx="685800" cy="886968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5" name="Text 22"/>
          <p:cNvSpPr/>
          <p:nvPr/>
        </p:nvSpPr>
        <p:spPr>
          <a:xfrm>
            <a:off x="320040" y="3995928"/>
            <a:ext cx="685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POL-04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78992" y="40142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Email &amp; Teams Communication Guideline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78992" y="421995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Official Communication Channels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78992" y="44394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Governs the use of ICDFA Outlook and Microsoft Teams for academic and administrative communication.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480560" y="100584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480560" y="100584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8"/>
          <p:cNvSpPr/>
          <p:nvPr/>
        </p:nvSpPr>
        <p:spPr>
          <a:xfrm>
            <a:off x="4480560" y="100584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POL-05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57800" y="1033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Basic Incident Reporting Procedure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257800" y="13075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Security Incident Response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5780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Provides a clear four-step process for reporting cybersecurity incidents and unusual digital activity.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480560" y="23317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6" name="Shape 33"/>
          <p:cNvSpPr/>
          <p:nvPr/>
        </p:nvSpPr>
        <p:spPr>
          <a:xfrm>
            <a:off x="4480560" y="233172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7" name="Text 34"/>
          <p:cNvSpPr/>
          <p:nvPr/>
        </p:nvSpPr>
        <p:spPr>
          <a:xfrm>
            <a:off x="4480560" y="233172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POL-06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257800" y="2359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Phishing Awareness &amp; Reporting Guideline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257800" y="263347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Threat Recognition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57800" y="2834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Helps community members identify phishing and social engineering attempts and explains how to report them.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480560" y="365760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2" name="Shape 39"/>
          <p:cNvSpPr/>
          <p:nvPr/>
        </p:nvSpPr>
        <p:spPr>
          <a:xfrm>
            <a:off x="4480560" y="365760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3" name="Text 40"/>
          <p:cNvSpPr/>
          <p:nvPr/>
        </p:nvSpPr>
        <p:spPr>
          <a:xfrm>
            <a:off x="4480560" y="365760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POL-07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257800" y="3685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Document Sharing &amp; Information Handling Guideline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257800" y="403707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Information Classification &amp; Control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257800" y="41605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Explains how ICDFA documents should be classified, shared, stored, and securely disposed of.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the Policies Were Developed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502920" cy="73152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32688" y="10332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Risk-Based Problem Identification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12984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team reviewed ICDFA's digital and administrative operations to identify the cybersecurity gaps and governance problems that policies needed to address.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82880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1" name="Shape 8"/>
          <p:cNvSpPr/>
          <p:nvPr/>
        </p:nvSpPr>
        <p:spPr>
          <a:xfrm>
            <a:off x="320040" y="1828800"/>
            <a:ext cx="502920" cy="73152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320040" y="18288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32688" y="1856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&amp; Framework Alignment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32688" y="2121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Each document was developed with reference to NIST CSF 2.0, ISO/IEC 27001, the Nigeria Data Protection Act 2023, and GDPR principles.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65176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6" name="Shape 13"/>
          <p:cNvSpPr/>
          <p:nvPr/>
        </p:nvSpPr>
        <p:spPr>
          <a:xfrm>
            <a:off x="320040" y="2651760"/>
            <a:ext cx="502920" cy="731520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4"/>
          <p:cNvSpPr/>
          <p:nvPr/>
        </p:nvSpPr>
        <p:spPr>
          <a:xfrm>
            <a:off x="320040" y="26517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32688" y="2679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Structured Document Format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688" y="29443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All seven policies follow the standardised structure: Purpose → Policy Statement → Scope → Roles &amp; Responsibilities → Acceptable Practices → Prohibited Practices → Reporting Procedure → Compliance → Review Date.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347472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1" name="Shape 18"/>
          <p:cNvSpPr/>
          <p:nvPr/>
        </p:nvSpPr>
        <p:spPr>
          <a:xfrm>
            <a:off x="320040" y="3474720"/>
            <a:ext cx="502920" cy="731520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19"/>
          <p:cNvSpPr/>
          <p:nvPr/>
        </p:nvSpPr>
        <p:spPr>
          <a:xfrm>
            <a:off x="320040" y="34747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32688" y="35021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Integration as a Governance Suite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32688" y="37673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documents were designed to work together — POL-01 links to POL-03 and POL-04; POL-06 feeds into POL-05; POL-02 is reinforced by POL-07. No policy works in isolation.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429768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6" name="Shape 23"/>
          <p:cNvSpPr/>
          <p:nvPr/>
        </p:nvSpPr>
        <p:spPr>
          <a:xfrm>
            <a:off x="320040" y="4297680"/>
            <a:ext cx="502920" cy="7315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4"/>
          <p:cNvSpPr/>
          <p:nvPr/>
        </p:nvSpPr>
        <p:spPr>
          <a:xfrm>
            <a:off x="320040" y="4297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32688" y="4325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Practical, Plain-Language Design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2688" y="45902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Policies were written to be readable by students, interns, and non-technical staff — not solely as compliance documents. Each guideline explains the why, not just the what.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Cybersecurity Awareness Resources Developed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971800" y="98755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2971800" y="9875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10+ Awareness Materials Produced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" y="15544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5"/>
          <p:cNvSpPr/>
          <p:nvPr/>
        </p:nvSpPr>
        <p:spPr>
          <a:xfrm>
            <a:off x="320040" y="15544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411480" y="1554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Awareness Posters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02996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576072" y="1993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Email Security Awareness Poster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37744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576072" y="22560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Protect Student Data Poster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7034" y="262432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564008" y="2487975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Official Email Poster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9734" y="288881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576072" y="27494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Report Incidents Poster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41985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576072" y="3383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Password Security Poster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76732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576072" y="3730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Think Before You Click Poster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1148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576072" y="40782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ICDFA Cybersecurity Awareness Poster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46120" y="15544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3246120" y="15544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3"/>
          <p:cNvSpPr/>
          <p:nvPr/>
        </p:nvSpPr>
        <p:spPr>
          <a:xfrm>
            <a:off x="3337560" y="1554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Awareness Flyers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37560" y="202996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5"/>
          <p:cNvSpPr/>
          <p:nvPr/>
        </p:nvSpPr>
        <p:spPr>
          <a:xfrm>
            <a:off x="3502152" y="1993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Lock-it-Down Security Flyer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337560" y="2377440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7"/>
          <p:cNvSpPr/>
          <p:nvPr/>
        </p:nvSpPr>
        <p:spPr>
          <a:xfrm>
            <a:off x="3502152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Official Email Security Flyer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37560" y="2724912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29"/>
          <p:cNvSpPr/>
          <p:nvPr/>
        </p:nvSpPr>
        <p:spPr>
          <a:xfrm>
            <a:off x="3502152" y="26883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Phishing Awareness Flyer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15544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Shape 31"/>
          <p:cNvSpPr/>
          <p:nvPr/>
        </p:nvSpPr>
        <p:spPr>
          <a:xfrm>
            <a:off x="6172200" y="15544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2"/>
          <p:cNvSpPr/>
          <p:nvPr/>
        </p:nvSpPr>
        <p:spPr>
          <a:xfrm>
            <a:off x="6263640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Infographics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63640" y="2029968"/>
            <a:ext cx="109728" cy="109728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4"/>
          <p:cNvSpPr/>
          <p:nvPr/>
        </p:nvSpPr>
        <p:spPr>
          <a:xfrm>
            <a:off x="6428232" y="19933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Cybersecurity Awareness Infographic (full suite of digital hygiene tips)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32461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9" name="Shape 36"/>
          <p:cNvSpPr/>
          <p:nvPr/>
        </p:nvSpPr>
        <p:spPr>
          <a:xfrm>
            <a:off x="320040" y="3246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7"/>
          <p:cNvSpPr/>
          <p:nvPr/>
        </p:nvSpPr>
        <p:spPr>
          <a:xfrm>
            <a:off x="41148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Reminder Messages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79822" y="380390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39"/>
          <p:cNvSpPr/>
          <p:nvPr/>
        </p:nvSpPr>
        <p:spPr>
          <a:xfrm>
            <a:off x="521208" y="3767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5 WhatsApp/Teams awareness messages for broadcast across ICDFA channels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46120" y="32461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4" name="Shape 41"/>
          <p:cNvSpPr/>
          <p:nvPr/>
        </p:nvSpPr>
        <p:spPr>
          <a:xfrm>
            <a:off x="3246120" y="3246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2"/>
          <p:cNvSpPr/>
          <p:nvPr/>
        </p:nvSpPr>
        <p:spPr>
          <a:xfrm>
            <a:off x="333756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 Awareness Template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3337560" y="3721608"/>
            <a:ext cx="109728" cy="10972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4"/>
          <p:cNvSpPr/>
          <p:nvPr/>
        </p:nvSpPr>
        <p:spPr>
          <a:xfrm>
            <a:off x="3447288" y="379314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Impersonation Alert Email Template — ready for distribution to the ICDFA community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172200" y="32461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9" name="Shape 46"/>
          <p:cNvSpPr/>
          <p:nvPr/>
        </p:nvSpPr>
        <p:spPr>
          <a:xfrm>
            <a:off x="6172200" y="32461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47"/>
          <p:cNvSpPr/>
          <p:nvPr/>
        </p:nvSpPr>
        <p:spPr>
          <a:xfrm>
            <a:off x="6263640" y="3246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Slides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263640" y="372160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49"/>
          <p:cNvSpPr/>
          <p:nvPr/>
        </p:nvSpPr>
        <p:spPr>
          <a:xfrm>
            <a:off x="6400800" y="383133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Cybersecurity Awareness Training Slide Deck covering key topics for staff and student onboarding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Recommendations to ICDFA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 Improvements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463040"/>
            <a:ext cx="128016" cy="128016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Formally adopt the seven-document ICDFA Cybersecurity Policy Suite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1920240"/>
            <a:ext cx="128016" cy="128016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594360" y="18745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Assign clear roles and accountability for policy implementation and monitoring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377440"/>
            <a:ext cx="128016" cy="128016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594360" y="23317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Designate a Data Protection Focal Person for ongoing compliance oversight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1005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3246120" y="10058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333756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 Adoption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37560" y="146304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3520440" y="14173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Communicate all seven policies to staff, interns, and students at onboarding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37560" y="192024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7"/>
          <p:cNvSpPr/>
          <p:nvPr/>
        </p:nvSpPr>
        <p:spPr>
          <a:xfrm>
            <a:off x="3520440" y="18745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Require signed acknowledgement from all account holders upon policy distribution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237744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3520440" y="23317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 policies to the onboarding checklist for new account holders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72200" y="10058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1"/>
          <p:cNvSpPr/>
          <p:nvPr/>
        </p:nvSpPr>
        <p:spPr>
          <a:xfrm>
            <a:off x="6172200" y="10058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2"/>
          <p:cNvSpPr/>
          <p:nvPr/>
        </p:nvSpPr>
        <p:spPr>
          <a:xfrm>
            <a:off x="6263640" y="1005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Awareness Enhancement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146304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4"/>
          <p:cNvSpPr/>
          <p:nvPr/>
        </p:nvSpPr>
        <p:spPr>
          <a:xfrm>
            <a:off x="6446520" y="14173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Establish a structured quarterly cybersecurity awareness programme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63640" y="192024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6"/>
          <p:cNvSpPr/>
          <p:nvPr/>
        </p:nvSpPr>
        <p:spPr>
          <a:xfrm>
            <a:off x="6446520" y="18745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Integrate awareness into student orientation and staff development sessions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63640" y="237744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8"/>
          <p:cNvSpPr/>
          <p:nvPr/>
        </p:nvSpPr>
        <p:spPr>
          <a:xfrm>
            <a:off x="6446520" y="23317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all awareness materials via Teams, WhatsApp, and official email channels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292608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0"/>
          <p:cNvSpPr/>
          <p:nvPr/>
        </p:nvSpPr>
        <p:spPr>
          <a:xfrm>
            <a:off x="320040" y="29260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1"/>
          <p:cNvSpPr/>
          <p:nvPr/>
        </p:nvSpPr>
        <p:spPr>
          <a:xfrm>
            <a:off x="411480" y="29260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Management Improvements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338328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3"/>
          <p:cNvSpPr/>
          <p:nvPr/>
        </p:nvSpPr>
        <p:spPr>
          <a:xfrm>
            <a:off x="594360" y="333756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Update the ICDFA Cyber Risk Register regularly as the threat landscape evolves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384048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5"/>
          <p:cNvSpPr/>
          <p:nvPr/>
        </p:nvSpPr>
        <p:spPr>
          <a:xfrm>
            <a:off x="594360" y="379476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Configure 90-day password expiry in Microsoft 365 Admin Center immediately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11480" y="429768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7"/>
          <p:cNvSpPr/>
          <p:nvPr/>
        </p:nvSpPr>
        <p:spPr>
          <a:xfrm>
            <a:off x="594360" y="425196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Microsoft Purview sensitivity labels and DLP policies across all M365 workloads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709160" y="292608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2" name="Shape 39"/>
          <p:cNvSpPr/>
          <p:nvPr/>
        </p:nvSpPr>
        <p:spPr>
          <a:xfrm>
            <a:off x="4709160" y="292608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0"/>
          <p:cNvSpPr/>
          <p:nvPr/>
        </p:nvSpPr>
        <p:spPr>
          <a:xfrm>
            <a:off x="4800600" y="29260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Continuous Monitoring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00600" y="3383280"/>
            <a:ext cx="128016" cy="128016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2"/>
          <p:cNvSpPr/>
          <p:nvPr/>
        </p:nvSpPr>
        <p:spPr>
          <a:xfrm>
            <a:off x="4983480" y="3337560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Conduct quarterly access reviews to enforce least-privilege principles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800600" y="3840480"/>
            <a:ext cx="128016" cy="128016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4"/>
          <p:cNvSpPr/>
          <p:nvPr/>
        </p:nvSpPr>
        <p:spPr>
          <a:xfrm>
            <a:off x="4983480" y="3794760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Run periodic phishing simulation exercises to test community awareness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800600" y="4297680"/>
            <a:ext cx="128016" cy="128016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6"/>
          <p:cNvSpPr/>
          <p:nvPr/>
        </p:nvSpPr>
        <p:spPr>
          <a:xfrm>
            <a:off x="4983480" y="4251960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Review all seven policies annually or following any major security incident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Roadmap for Implementation — 30-Day Plan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2618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</a:rPr>
              <a:t>Days 1–10  |  Review &amp; Adoption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9" name="Shape 6"/>
          <p:cNvSpPr/>
          <p:nvPr/>
        </p:nvSpPr>
        <p:spPr>
          <a:xfrm>
            <a:off x="320040" y="166420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320040" y="166420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9476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Review risk register with ICT &amp; management; prioritise Critical risks for immediate treatment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2505456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3" name="Shape 10"/>
          <p:cNvSpPr/>
          <p:nvPr/>
        </p:nvSpPr>
        <p:spPr>
          <a:xfrm>
            <a:off x="320040" y="250545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320040" y="25054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Policy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760" y="27889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Review all 7 policy documents with management; begin stakeholder approval process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3346704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7" name="Shape 14"/>
          <p:cNvSpPr/>
          <p:nvPr/>
        </p:nvSpPr>
        <p:spPr>
          <a:xfrm>
            <a:off x="320040" y="334670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5"/>
          <p:cNvSpPr/>
          <p:nvPr/>
        </p:nvSpPr>
        <p:spPr>
          <a:xfrm>
            <a:off x="32004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Awareness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5760" y="363016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Publish posters and security reminder cards across Teams, WhatsApp and physical notice boards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4187952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1" name="Shape 18"/>
          <p:cNvSpPr/>
          <p:nvPr/>
        </p:nvSpPr>
        <p:spPr>
          <a:xfrm>
            <a:off x="320040" y="41879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Text 19"/>
          <p:cNvSpPr/>
          <p:nvPr/>
        </p:nvSpPr>
        <p:spPr>
          <a:xfrm>
            <a:off x="320040" y="41879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Protection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65760" y="447141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Directorate reviews Student Data Protection Guideline for formal adoption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46120" y="100584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2"/>
          <p:cNvSpPr/>
          <p:nvPr/>
        </p:nvSpPr>
        <p:spPr>
          <a:xfrm>
            <a:off x="3246120" y="1005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46120" y="12618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</a:rPr>
              <a:t>Days 11–20  |  Implementation &amp; Rollout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46120" y="1664208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8" name="Shape 25"/>
          <p:cNvSpPr/>
          <p:nvPr/>
        </p:nvSpPr>
        <p:spPr>
          <a:xfrm>
            <a:off x="3246120" y="166420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0D1B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6"/>
          <p:cNvSpPr/>
          <p:nvPr/>
        </p:nvSpPr>
        <p:spPr>
          <a:xfrm>
            <a:off x="3246120" y="166420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91840" y="19476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Implement technical controls: password expiry policy, Purview sensitivity labels, DLP policies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05456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2" name="Shape 29"/>
          <p:cNvSpPr/>
          <p:nvPr/>
        </p:nvSpPr>
        <p:spPr>
          <a:xfrm>
            <a:off x="3246120" y="250545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0D1B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Text 30"/>
          <p:cNvSpPr/>
          <p:nvPr/>
        </p:nvSpPr>
        <p:spPr>
          <a:xfrm>
            <a:off x="3246120" y="25054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Policy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91840" y="27889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Finalise revisions, obtain Directorate approval; publish and communicate to all users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46120" y="3346704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6" name="Shape 33"/>
          <p:cNvSpPr/>
          <p:nvPr/>
        </p:nvSpPr>
        <p:spPr>
          <a:xfrm>
            <a:off x="3246120" y="334670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0D1B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Text 34"/>
          <p:cNvSpPr/>
          <p:nvPr/>
        </p:nvSpPr>
        <p:spPr>
          <a:xfrm>
            <a:off x="324612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Awareness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291840" y="363016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Launch email and Teams-based awareness campaign; distribute all 10 awareness materials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246120" y="4187952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40" name="Shape 37"/>
          <p:cNvSpPr/>
          <p:nvPr/>
        </p:nvSpPr>
        <p:spPr>
          <a:xfrm>
            <a:off x="3246120" y="41879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0D1B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Text 38"/>
          <p:cNvSpPr/>
          <p:nvPr/>
        </p:nvSpPr>
        <p:spPr>
          <a:xfrm>
            <a:off x="3246120" y="41879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Protection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91840" y="447141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Distribute infographics, posters and Teams/WhatsApp messages on data privacy obligations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172200" y="100584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4" name="Text 41"/>
          <p:cNvSpPr/>
          <p:nvPr/>
        </p:nvSpPr>
        <p:spPr>
          <a:xfrm>
            <a:off x="6172200" y="1005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172200" y="12618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</a:rPr>
              <a:t>Days 21–30  |  Training &amp; Compliance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72200" y="1664208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47" name="Shape 44"/>
          <p:cNvSpPr/>
          <p:nvPr/>
        </p:nvSpPr>
        <p:spPr>
          <a:xfrm>
            <a:off x="6172200" y="166420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8" name="Text 45"/>
          <p:cNvSpPr/>
          <p:nvPr/>
        </p:nvSpPr>
        <p:spPr>
          <a:xfrm>
            <a:off x="6172200" y="166420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217920" y="19476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Review implementation; monitor compliance with new controls; update risk register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2505456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1" name="Shape 48"/>
          <p:cNvSpPr/>
          <p:nvPr/>
        </p:nvSpPr>
        <p:spPr>
          <a:xfrm>
            <a:off x="6172200" y="250545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2" name="Text 49"/>
          <p:cNvSpPr/>
          <p:nvPr/>
        </p:nvSpPr>
        <p:spPr>
          <a:xfrm>
            <a:off x="6172200" y="25054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Policy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217920" y="27889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Mandatory awareness and policy onboarding; track completion and reinforce requirements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172200" y="3346704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5" name="Shape 52"/>
          <p:cNvSpPr/>
          <p:nvPr/>
        </p:nvSpPr>
        <p:spPr>
          <a:xfrm>
            <a:off x="6172200" y="334670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6" name="Text 53"/>
          <p:cNvSpPr/>
          <p:nvPr/>
        </p:nvSpPr>
        <p:spPr>
          <a:xfrm>
            <a:off x="617220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Awareness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217920" y="363016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Conduct awareness engagement session; collect feedback; plan quarterly refresher cycle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172200" y="4187952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9" name="Shape 56"/>
          <p:cNvSpPr/>
          <p:nvPr/>
        </p:nvSpPr>
        <p:spPr>
          <a:xfrm>
            <a:off x="6172200" y="41879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0" name="Text 57"/>
          <p:cNvSpPr/>
          <p:nvPr/>
        </p:nvSpPr>
        <p:spPr>
          <a:xfrm>
            <a:off x="6172200" y="41879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Protection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217920" y="447141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Conduct orientation sessions for interns and admin staff on confidentiality obligations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and Impact of the Project — Expected Benefits to the Academy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429768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Improved Cybersecurity Posture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9768" y="144475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Formal policies, a structured risk register, and technical control recommendations will reduce the attack surface and strengthen baseline security across ICDFA's digital environment.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4818888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Stronger Governance Framework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18888" y="144475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Seven integrated policy documents provide ICDFA with a clear governance structure covering accounts, data, communication, incidents, phishing, and document handling.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3317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1"/>
          <p:cNvSpPr/>
          <p:nvPr/>
        </p:nvSpPr>
        <p:spPr>
          <a:xfrm>
            <a:off x="320040" y="233172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429768" y="2331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Better Awareness &amp; Culture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9768" y="277063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10+ awareness materials and a structured communication plan will improve cybersecurity understanding and promote responsible digital behaviour across the Academy community.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3317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4709160" y="233172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4818888" y="2331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Protection Compliance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18888" y="277063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Adoption of the Student Data Protection Guideline supports ICDFA's obligations under the Nigeria Data Protection Act 2023 and international privacy principles.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365760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19"/>
          <p:cNvSpPr/>
          <p:nvPr/>
        </p:nvSpPr>
        <p:spPr>
          <a:xfrm>
            <a:off x="320040" y="365760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429768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Faster Incident Response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29768" y="40965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The Basic Incident Reporting Procedure and Phishing Awareness Guideline give every community member a clear, actionable path for reporting security concerns promptly.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9160" y="365760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3"/>
          <p:cNvSpPr/>
          <p:nvPr/>
        </p:nvSpPr>
        <p:spPr>
          <a:xfrm>
            <a:off x="4709160" y="365760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4"/>
          <p:cNvSpPr/>
          <p:nvPr/>
        </p:nvSpPr>
        <p:spPr>
          <a:xfrm>
            <a:off x="4818888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Professional Development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18888" y="40965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GRC Batch B2025 gained practical hands-on experience in risk assessment, policy drafting, compliance documentation, and professional reporting , directly applicable to industry roles.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ICDFA Cyber Governance and Community Security Improvement Project  |  GRC Batch B2025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5943600" y="73152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BAE6FD"/>
                </a:solidFill>
              </a:rPr>
              <a:t>BUILDING A MORE SECURE AND RESILIENT ACADEMY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53035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E6FD"/>
                </a:solidFill>
              </a:rPr>
              <a:t>Summary of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30 cybersecurity and governance risks identified across 5 scope areas: 16 Critical, 11 High, 2 Medium, 1 Low. </a:t>
            </a:r>
            <a:br>
              <a:rPr lang="en-US" sz="1050" dirty="0">
                <a:solidFill>
                  <a:srgbClr val="FFFFFF"/>
                </a:solidFill>
              </a:rPr>
            </a:br>
            <a:r>
              <a:rPr lang="en-US" sz="1050" dirty="0">
                <a:solidFill>
                  <a:srgbClr val="FFFFFF"/>
                </a:solidFill>
              </a:rPr>
              <a:t>Key gaps include: absence of published policies, password never-expire configuration, no Microsoft Purview deployment, weak incident reporting culture, and uncontrolled sharing of student data. MFA is an existing strength that provides a foundation to build 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274320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E6FD"/>
                </a:solidFill>
              </a:rPr>
              <a:t>Summary of Recommendations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09067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Adopt the 7-document policy suite. Configure password expiry and deploy Microsoft Purview immediately. Establish a structured awareness programme. Enforce role-based access controls. Implement the Basic Incident Reporting Procedure. Review and update the Cyber Risk Register on a quarterly basis.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41605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502920" y="4187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Call to Action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4453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We respectfully submit these findings, policies, and recommendations for review, adoption, and implementation.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2743200" y="64008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1389888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Questions, Comments &amp; Feedback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210312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1508760" y="21214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</a:rPr>
              <a:t>Project: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2121408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ICDFA Cyber Governance &amp; Community Security Improvement Project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71600" y="2770632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" name="Text 8"/>
          <p:cNvSpPr/>
          <p:nvPr/>
        </p:nvSpPr>
        <p:spPr>
          <a:xfrm>
            <a:off x="1508760" y="278892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</a:rPr>
              <a:t>Programme: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0" y="2788920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Governance, Risk and Compliance Engineering Programme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0" y="3438144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1"/>
          <p:cNvSpPr/>
          <p:nvPr/>
        </p:nvSpPr>
        <p:spPr>
          <a:xfrm>
            <a:off x="1508760" y="34564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</a:rPr>
              <a:t>Cohort: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0" y="3456432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CGRC Batch B2025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371600" y="4105656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Text 14"/>
          <p:cNvSpPr/>
          <p:nvPr/>
        </p:nvSpPr>
        <p:spPr>
          <a:xfrm>
            <a:off x="1508760" y="412394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</a:rPr>
              <a:t>Submitted to: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0" y="4123944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Directorate of Training, International Cybersecurity and Digital Forensics Academy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74A65D6544744D91A2032FBD2D9C41" ma:contentTypeVersion="3" ma:contentTypeDescription="Create a new document." ma:contentTypeScope="" ma:versionID="de6bb35bb4a0f0f762293a437e2c0e11">
  <xsd:schema xmlns:xsd="http://www.w3.org/2001/XMLSchema" xmlns:xs="http://www.w3.org/2001/XMLSchema" xmlns:p="http://schemas.microsoft.com/office/2006/metadata/properties" xmlns:ns2="5e830d58-01d5-4651-8965-f43143dd317e" targetNamespace="http://schemas.microsoft.com/office/2006/metadata/properties" ma:root="true" ma:fieldsID="dfe014a8f2138e217a28318fb6eb0f5c" ns2:_="">
    <xsd:import namespace="5e830d58-01d5-4651-8965-f43143dd31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30d58-01d5-4651-8965-f43143dd31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65895E-4E0E-421E-BA92-6D71D1D9C3AB}"/>
</file>

<file path=customXml/itemProps2.xml><?xml version="1.0" encoding="utf-8"?>
<ds:datastoreItem xmlns:ds="http://schemas.openxmlformats.org/officeDocument/2006/customXml" ds:itemID="{752A9BD9-F54C-4DF9-B3C7-5DCFCF274450}"/>
</file>

<file path=customXml/itemProps3.xml><?xml version="1.0" encoding="utf-8"?>
<ds:datastoreItem xmlns:ds="http://schemas.openxmlformats.org/officeDocument/2006/customXml" ds:itemID="{8539C89F-19D1-4335-B9DE-ECB8DC4363A2}"/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2253</Words>
  <Application>Microsoft Office PowerPoint</Application>
  <PresentationFormat>On-screen Show (16:9)</PresentationFormat>
  <Paragraphs>310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ICDFA Cyber Governance and Community Security Improvement Project</dc:title>
  <dc:subject>PptxGenJS Presentation</dc:subject>
  <dc:creator>PptxGenJS</dc:creator>
  <cp:lastModifiedBy>USER</cp:lastModifiedBy>
  <cp:revision>5</cp:revision>
  <dcterms:created xsi:type="dcterms:W3CDTF">2026-06-26T06:54:50Z</dcterms:created>
  <dcterms:modified xsi:type="dcterms:W3CDTF">2026-06-26T07:52:55Z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0x0101006B74A65D6544744D91A2032FBD2D9C41</vt:lpwstr>
  </property>
</Properties>
</file>